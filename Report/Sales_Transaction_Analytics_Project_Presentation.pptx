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rshinigopi0708@gmail.com" userId="2c607d1b8667c097" providerId="LiveId" clId="{46580654-4C08-47CC-B2F7-D7ABE97E06DE}"/>
    <pc:docChg chg="custSel modSld">
      <pc:chgData name="dharshinigopi0708@gmail.com" userId="2c607d1b8667c097" providerId="LiveId" clId="{46580654-4C08-47CC-B2F7-D7ABE97E06DE}" dt="2026-07-27T04:31:43.729" v="12" actId="20577"/>
      <pc:docMkLst>
        <pc:docMk/>
      </pc:docMkLst>
      <pc:sldChg chg="modSp mod">
        <pc:chgData name="dharshinigopi0708@gmail.com" userId="2c607d1b8667c097" providerId="LiveId" clId="{46580654-4C08-47CC-B2F7-D7ABE97E06DE}" dt="2026-07-27T04:31:43.729" v="12" actId="20577"/>
        <pc:sldMkLst>
          <pc:docMk/>
          <pc:sldMk cId="0" sldId="256"/>
        </pc:sldMkLst>
        <pc:spChg chg="mod">
          <ac:chgData name="dharshinigopi0708@gmail.com" userId="2c607d1b8667c097" providerId="LiveId" clId="{46580654-4C08-47CC-B2F7-D7ABE97E06DE}" dt="2026-07-27T04:31:43.729" v="1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28:33.471" v="3" actId="20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57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58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58"/>
            <ac:spMk id="2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59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59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dharshinigopi0708@gmail.com" userId="2c607d1b8667c097" providerId="LiveId" clId="{46580654-4C08-47CC-B2F7-D7ABE97E06DE}" dt="2026-07-27T04:31:09.576" v="10"/>
        <pc:sldMkLst>
          <pc:docMk/>
          <pc:sldMk cId="0" sldId="260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0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dharshinigopi0708@gmail.com" userId="2c607d1b8667c097" providerId="LiveId" clId="{46580654-4C08-47CC-B2F7-D7ABE97E06DE}" dt="2026-07-27T04:31:09.576" v="10"/>
        <pc:sldMkLst>
          <pc:docMk/>
          <pc:sldMk cId="0" sldId="261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1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62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2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63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3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64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4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65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5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66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6"/>
            <ac:spMk id="2" creationId="{00000000-0000-0000-0000-000000000000}"/>
          </ac:spMkLst>
        </pc:spChg>
      </pc:sldChg>
      <pc:sldChg chg="modSp">
        <pc:chgData name="dharshinigopi0708@gmail.com" userId="2c607d1b8667c097" providerId="LiveId" clId="{46580654-4C08-47CC-B2F7-D7ABE97E06DE}" dt="2026-07-27T04:31:09.576" v="10"/>
        <pc:sldMkLst>
          <pc:docMk/>
          <pc:sldMk cId="0" sldId="267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7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dharshinigopi0708@gmail.com" userId="2c607d1b8667c097" providerId="LiveId" clId="{46580654-4C08-47CC-B2F7-D7ABE97E06DE}" dt="2026-07-27T04:31:09.576" v="10"/>
        <pc:sldMkLst>
          <pc:docMk/>
          <pc:sldMk cId="0" sldId="268"/>
        </pc:sldMkLst>
        <pc:spChg chg="mod">
          <ac:chgData name="dharshinigopi0708@gmail.com" userId="2c607d1b8667c097" providerId="LiveId" clId="{46580654-4C08-47CC-B2F7-D7ABE97E06DE}" dt="2026-07-27T04:31:09.576" v="10"/>
          <ac:spMkLst>
            <pc:docMk/>
            <pc:sldMk cId="0" sldId="268"/>
            <ac:spMk id="2" creationId="{00000000-0000-0000-0000-000000000000}"/>
          </ac:spMkLst>
        </pc:spChg>
        <pc:spChg chg="mod">
          <ac:chgData name="dharshinigopi0708@gmail.com" userId="2c607d1b8667c097" providerId="LiveId" clId="{46580654-4C08-47CC-B2F7-D7ABE97E06DE}" dt="2026-07-27T04:30:21.151" v="8" actId="1076"/>
          <ac:spMkLst>
            <pc:docMk/>
            <pc:sldMk cId="0" sldId="268"/>
            <ac:spMk id="5" creationId="{644713E6-2DAA-3EAB-FD08-7228D09CA9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3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6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3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3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3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6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21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5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0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0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3405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93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3061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82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02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405" y="1063255"/>
            <a:ext cx="8357190" cy="1733108"/>
          </a:xfrm>
        </p:spPr>
        <p:txBody>
          <a:bodyPr>
            <a:normAutofit/>
          </a:bodyPr>
          <a:lstStyle/>
          <a:p>
            <a:pPr algn="ctr"/>
            <a:r>
              <a:rPr sz="2400" b="1" dirty="0"/>
              <a:t>Sales Transaction Analytics, Predictive Modeling, </a:t>
            </a:r>
            <a:r>
              <a:rPr lang="en-US" sz="2400" b="1" dirty="0"/>
              <a:t>A</a:t>
            </a:r>
            <a:r>
              <a:rPr sz="2400" b="1" dirty="0"/>
              <a:t>nd Anomaly Detection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254" y="4061638"/>
            <a:ext cx="5618515" cy="977621"/>
          </a:xfrm>
        </p:spPr>
        <p:txBody>
          <a:bodyPr/>
          <a:lstStyle/>
          <a:p>
            <a:pPr>
              <a:defRPr sz="2200"/>
            </a:pPr>
            <a:r>
              <a:rPr b="1" dirty="0">
                <a:solidFill>
                  <a:schemeClr val="accent4">
                    <a:lumMod val="50000"/>
                  </a:schemeClr>
                </a:solidFill>
              </a:rPr>
              <a:t>Dharshini G</a:t>
            </a:r>
            <a:br>
              <a:rPr b="1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PGA-38 Data science with Gen AI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755014"/>
            <a:ext cx="6345260" cy="3530600"/>
          </a:xfrm>
        </p:spPr>
        <p:txBody>
          <a:bodyPr/>
          <a:lstStyle/>
          <a:p>
            <a:pPr>
              <a:defRPr sz="2200"/>
            </a:pPr>
            <a:r>
              <a:rPr sz="2000" b="1" dirty="0"/>
              <a:t>Analyze sales transactions_x000B_</a:t>
            </a:r>
            <a:endParaRPr lang="en-US" sz="2000" b="1" dirty="0"/>
          </a:p>
          <a:p>
            <a:pPr>
              <a:defRPr sz="2200"/>
            </a:pPr>
            <a:r>
              <a:rPr sz="2000" b="1" dirty="0"/>
              <a:t>Detect anomalies using Isolation Forest_x000B_</a:t>
            </a:r>
            <a:endParaRPr lang="en-US" sz="2000" b="1" dirty="0"/>
          </a:p>
          <a:p>
            <a:pPr>
              <a:defRPr sz="2200"/>
            </a:pPr>
            <a:r>
              <a:rPr sz="2000" b="1" dirty="0"/>
              <a:t>Generate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370" y="2829442"/>
            <a:ext cx="6345260" cy="3530600"/>
          </a:xfrm>
        </p:spPr>
        <p:txBody>
          <a:bodyPr/>
          <a:lstStyle/>
          <a:p>
            <a:pPr>
              <a:defRPr sz="2200"/>
            </a:pPr>
            <a:r>
              <a:rPr b="1" dirty="0"/>
              <a:t>Manual monitoring of large transaction volumes is difficult. Machine learning automates anomaly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b="1" dirty="0"/>
              <a:t>Data Cleaning</a:t>
            </a:r>
            <a:endParaRPr lang="en-US" b="1" dirty="0"/>
          </a:p>
          <a:p>
            <a:pPr>
              <a:defRPr sz="2200"/>
            </a:pPr>
            <a:r>
              <a:rPr b="1" dirty="0"/>
              <a:t> EDA</a:t>
            </a:r>
            <a:endParaRPr lang="en-US" b="1" dirty="0"/>
          </a:p>
          <a:p>
            <a:pPr>
              <a:defRPr sz="2200"/>
            </a:pPr>
            <a:r>
              <a:rPr b="1" dirty="0"/>
              <a:t>Feature Engineering</a:t>
            </a:r>
            <a:endParaRPr lang="en-US" b="1" dirty="0"/>
          </a:p>
          <a:p>
            <a:pPr>
              <a:defRPr sz="2200"/>
            </a:pPr>
            <a:r>
              <a:rPr b="1" dirty="0"/>
              <a:t>Isolation Forest</a:t>
            </a:r>
            <a:endParaRPr lang="en-US" b="1" dirty="0"/>
          </a:p>
          <a:p>
            <a:pPr>
              <a:defRPr sz="2200"/>
            </a:pPr>
            <a:r>
              <a:rPr b="1" dirty="0"/>
              <a:t>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b="1" dirty="0"/>
              <a:t>Fields:</a:t>
            </a:r>
            <a:endParaRPr lang="en-US" b="1" dirty="0"/>
          </a:p>
          <a:p>
            <a:pPr>
              <a:defRPr sz="2200"/>
            </a:pPr>
            <a:r>
              <a:rPr b="1" dirty="0"/>
              <a:t> </a:t>
            </a:r>
            <a:r>
              <a:rPr dirty="0"/>
              <a:t>Date, </a:t>
            </a:r>
            <a:endParaRPr lang="en-US" dirty="0"/>
          </a:p>
          <a:p>
            <a:pPr>
              <a:defRPr sz="2200"/>
            </a:pPr>
            <a:r>
              <a:rPr dirty="0"/>
              <a:t>Description</a:t>
            </a:r>
            <a:endParaRPr lang="en-US" dirty="0"/>
          </a:p>
          <a:p>
            <a:pPr>
              <a:defRPr sz="2200"/>
            </a:pPr>
            <a:r>
              <a:rPr dirty="0"/>
              <a:t>Withdrawal</a:t>
            </a:r>
            <a:endParaRPr lang="en-US" dirty="0"/>
          </a:p>
          <a:p>
            <a:pPr>
              <a:defRPr sz="2200"/>
            </a:pPr>
            <a:r>
              <a:rPr dirty="0"/>
              <a:t>Deposit</a:t>
            </a:r>
            <a:endParaRPr lang="en-US" dirty="0"/>
          </a:p>
          <a:p>
            <a:pPr>
              <a:defRPr sz="2200"/>
            </a:pPr>
            <a:r>
              <a:rPr dirty="0"/>
              <a:t>Balance</a:t>
            </a:r>
            <a:endParaRPr lang="en-US" dirty="0"/>
          </a:p>
          <a:p>
            <a:pPr>
              <a:defRPr sz="2200"/>
            </a:pPr>
            <a:r>
              <a:rPr dirty="0"/>
              <a:t>Transaction Amount</a:t>
            </a:r>
            <a:br>
              <a:rPr dirty="0"/>
            </a:br>
            <a:r>
              <a:rPr dirty="0"/>
              <a:t>3742 transactions (project dataset)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b="1" dirty="0"/>
              <a:t>Load Data → Clean Data → EDA → Feature Engineering → Scaling → Isolation Forest →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endParaRPr lang="en-US" dirty="0"/>
          </a:p>
          <a:p>
            <a:pPr>
              <a:defRPr sz="2200"/>
            </a:pPr>
            <a:r>
              <a:rPr dirty="0"/>
              <a:t> </a:t>
            </a:r>
            <a:r>
              <a:rPr b="1" dirty="0"/>
              <a:t>Transaction distribution</a:t>
            </a:r>
            <a:endParaRPr lang="en-US" b="1" dirty="0"/>
          </a:p>
          <a:p>
            <a:pPr>
              <a:defRPr sz="2200"/>
            </a:pPr>
            <a:r>
              <a:rPr b="1" dirty="0"/>
              <a:t> Monthly trends</a:t>
            </a:r>
            <a:endParaRPr lang="en-US" b="1" dirty="0"/>
          </a:p>
          <a:p>
            <a:pPr>
              <a:defRPr sz="2200"/>
            </a:pPr>
            <a:r>
              <a:rPr b="1" dirty="0"/>
              <a:t> Withdrawals &amp; Deposits</a:t>
            </a:r>
            <a:endParaRPr lang="en-US" b="1" dirty="0"/>
          </a:p>
          <a:p>
            <a:pPr>
              <a:defRPr sz="2200"/>
            </a:pPr>
            <a:r>
              <a:rPr b="1" dirty="0"/>
              <a:t> Correlation Heatmap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b="1" dirty="0"/>
              <a:t>Created Month</a:t>
            </a:r>
            <a:endParaRPr lang="en-US" b="1" dirty="0"/>
          </a:p>
          <a:p>
            <a:pPr>
              <a:defRPr sz="2200"/>
            </a:pPr>
            <a:r>
              <a:rPr b="1" dirty="0"/>
              <a:t> Quarter</a:t>
            </a:r>
            <a:endParaRPr lang="en-US" b="1" dirty="0"/>
          </a:p>
          <a:p>
            <a:pPr>
              <a:defRPr sz="2200"/>
            </a:pPr>
            <a:r>
              <a:rPr b="1" dirty="0"/>
              <a:t> Weekday</a:t>
            </a:r>
            <a:endParaRPr lang="en-US" b="1" dirty="0"/>
          </a:p>
          <a:p>
            <a:pPr>
              <a:defRPr sz="2200"/>
            </a:pPr>
            <a:r>
              <a:rPr b="1" dirty="0"/>
              <a:t>Transaction Type</a:t>
            </a:r>
            <a:endParaRPr lang="en-US" b="1" dirty="0"/>
          </a:p>
          <a:p>
            <a:pPr>
              <a:defRPr sz="2200"/>
            </a:pPr>
            <a:r>
              <a:rPr b="1" dirty="0"/>
              <a:t> High Value Flag</a:t>
            </a:r>
            <a:endParaRPr lang="en-US" b="1" dirty="0"/>
          </a:p>
          <a:p>
            <a:pPr>
              <a:defRPr sz="2200"/>
            </a:pPr>
            <a:r>
              <a:rPr b="1" dirty="0"/>
              <a:t> Balance Difference</a:t>
            </a:r>
            <a:endParaRPr lang="en-US" b="1" dirty="0"/>
          </a:p>
          <a:p>
            <a:pPr>
              <a:defRPr sz="2200"/>
            </a:pPr>
            <a:r>
              <a:rPr b="1" dirty="0"/>
              <a:t> Amount Category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b="1" dirty="0"/>
              <a:t>Isolation Forest trained on scaled numerical features.</a:t>
            </a:r>
            <a:br>
              <a:rPr b="1" dirty="0"/>
            </a:br>
            <a:r>
              <a:rPr b="1" dirty="0"/>
              <a:t>Detected Normal vs Anomalous transactions.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b="1" dirty="0"/>
              <a:t>Anomalies identified</a:t>
            </a:r>
            <a:endParaRPr lang="en-US" b="1" dirty="0"/>
          </a:p>
          <a:p>
            <a:pPr>
              <a:defRPr sz="2200"/>
            </a:pPr>
            <a:r>
              <a:rPr b="1" dirty="0"/>
              <a:t>Visualized anomaly distribution</a:t>
            </a:r>
            <a:endParaRPr lang="en-US" b="1" dirty="0"/>
          </a:p>
          <a:p>
            <a:pPr>
              <a:defRPr sz="2200"/>
            </a:pPr>
            <a:r>
              <a:rPr b="1" dirty="0"/>
              <a:t> Saved model and scaler (.pkl)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925135"/>
            <a:ext cx="7280158" cy="3530600"/>
          </a:xfrm>
        </p:spPr>
        <p:txBody>
          <a:bodyPr/>
          <a:lstStyle/>
          <a:p>
            <a:pPr>
              <a:defRPr sz="2200"/>
            </a:pPr>
            <a:r>
              <a:rPr dirty="0"/>
              <a:t> </a:t>
            </a:r>
            <a:r>
              <a:rPr b="1" dirty="0"/>
              <a:t>High-value transactions more likely anomalous</a:t>
            </a:r>
            <a:endParaRPr lang="en-US" b="1" dirty="0"/>
          </a:p>
          <a:p>
            <a:pPr>
              <a:defRPr sz="2200"/>
            </a:pPr>
            <a:r>
              <a:rPr b="1" dirty="0"/>
              <a:t> Supports fraud monitoring and risk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b="1" dirty="0"/>
              <a:t>Real-time monitoring</a:t>
            </a:r>
            <a:endParaRPr lang="en-US" b="1" dirty="0"/>
          </a:p>
          <a:p>
            <a:pPr>
              <a:defRPr sz="2200"/>
            </a:pPr>
            <a:r>
              <a:rPr b="1" dirty="0"/>
              <a:t>Streamlit deployment</a:t>
            </a:r>
            <a:endParaRPr lang="en-US" b="1" dirty="0"/>
          </a:p>
          <a:p>
            <a:pPr>
              <a:defRPr sz="2200"/>
            </a:pPr>
            <a:r>
              <a:rPr b="1" dirty="0"/>
              <a:t>Dashboard integration</a:t>
            </a:r>
            <a:endParaRPr lang="en-US" b="1" dirty="0"/>
          </a:p>
          <a:p>
            <a:pPr>
              <a:defRPr sz="2200"/>
            </a:pPr>
            <a:r>
              <a:rPr b="1" dirty="0"/>
              <a:t>Advanced anomaly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4713E6-2DAA-3EAB-FD08-7228D09CA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78" y="2038409"/>
            <a:ext cx="7759043" cy="4195481"/>
          </a:xfrm>
        </p:spPr>
        <p:txBody>
          <a:bodyPr>
            <a:normAutofit/>
          </a:bodyPr>
          <a:lstStyle/>
          <a:p>
            <a:r>
              <a:rPr sz="2000" b="1" dirty="0"/>
              <a:t>Thank you for reviewing this project This Project demonstrates the application of data analytics and machine learning techniques to analyze sales transaction data and detect anomalous transaction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</TotalTime>
  <Words>229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Sales Transaction Analytics, Predictive Modeling, And Anomaly Detection Using Machine Learning</vt:lpstr>
      <vt:lpstr>Project Overview</vt:lpstr>
      <vt:lpstr>Problem Statement</vt:lpstr>
      <vt:lpstr>Objectives</vt:lpstr>
      <vt:lpstr>Dataset</vt:lpstr>
      <vt:lpstr>Methodology</vt:lpstr>
      <vt:lpstr>EDA</vt:lpstr>
      <vt:lpstr>Feature Engineering</vt:lpstr>
      <vt:lpstr>Machine Learning</vt:lpstr>
      <vt:lpstr>Results</vt:lpstr>
      <vt:lpstr>Business Insights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dharshinigopi0708@gmail.com</cp:lastModifiedBy>
  <cp:revision>3</cp:revision>
  <dcterms:created xsi:type="dcterms:W3CDTF">2013-01-27T09:14:16Z</dcterms:created>
  <dcterms:modified xsi:type="dcterms:W3CDTF">2026-07-27T04:31:50Z</dcterms:modified>
  <cp:category/>
</cp:coreProperties>
</file>